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Calibri"/>
              </a:rPr>
              <a:t>India Aviation: $14.78B → $28.96B (11.86% CAGR)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Aviation Market (USD Bn)</c:v>
                </c:pt>
              </c:strCache>
            </c:strRef>
          </c:tx>
          <c:spPr>
            <a:solidFill>
              <a:srgbClr val="F26B38"/>
            </a:solidFill>
            <a:ln w="38100" cap="flat">
              <a:solidFill>
                <a:srgbClr val="F26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6B38"/>
              </a:solidFill>
              <a:ln w="9525" cap="flat">
                <a:solidFill>
                  <a:srgbClr val="F26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14.78</c:v>
                </c:pt>
                <c:pt idx="1">
                  <c:v>16.53</c:v>
                </c:pt>
                <c:pt idx="2">
                  <c:v>18.49</c:v>
                </c:pt>
                <c:pt idx="3">
                  <c:v>20.68</c:v>
                </c:pt>
                <c:pt idx="4">
                  <c:v>23.13</c:v>
                </c:pt>
                <c:pt idx="5">
                  <c:v>25.87</c:v>
                </c:pt>
                <c:pt idx="6">
                  <c:v>28.96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EFE5"/>
        </a:solidFill>
        <a:ln>
          <a:noFill/>
        </a:ln>
        <a:effectLst/>
      </c:spPr>
    </c:plotArea>
    <c:plotVisOnly val="1"/>
    <c:dispBlanksAs val="span"/>
  </c:chart>
  <c:spPr>
    <a:solidFill>
      <a:srgbClr val="F6EFE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0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3569" y="4007023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377" y="3811517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39186" y="3623363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96995" y="3446068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54803" y="3282933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12612" y="3136998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70421" y="3010980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28230" y="2907228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586038" y="2827675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43847" y="2773801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301656" y="2746611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659464" y="2746611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17273" y="2773801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75082" y="2827675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732890" y="2907228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90699" y="3010980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48508" y="3136998"/>
            <a:ext cx="54864" cy="54864"/>
          </a:xfrm>
          <a:prstGeom prst="ellipse">
            <a:avLst/>
          </a:prstGeom>
          <a:solidFill>
            <a:srgbClr val="F26B38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06317" y="3282933"/>
            <a:ext cx="54864" cy="54864"/>
          </a:xfrm>
          <a:prstGeom prst="ellipse">
            <a:avLst/>
          </a:prstGeom>
          <a:solidFill>
            <a:srgbClr val="F26B38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64125" y="3446068"/>
            <a:ext cx="54864" cy="54864"/>
          </a:xfrm>
          <a:prstGeom prst="ellipse">
            <a:avLst/>
          </a:prstGeom>
          <a:solidFill>
            <a:srgbClr val="F26B38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21934" y="3623363"/>
            <a:ext cx="54864" cy="54864"/>
          </a:xfrm>
          <a:prstGeom prst="ellipse">
            <a:avLst/>
          </a:prstGeom>
          <a:solidFill>
            <a:srgbClr val="F26B38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79743" y="3811517"/>
            <a:ext cx="54864" cy="54864"/>
          </a:xfrm>
          <a:prstGeom prst="ellipse">
            <a:avLst/>
          </a:prstGeom>
          <a:solidFill>
            <a:srgbClr val="F26B38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237551" y="4007023"/>
            <a:ext cx="54864" cy="54864"/>
          </a:xfrm>
          <a:prstGeom prst="ellipse">
            <a:avLst/>
          </a:prstGeom>
          <a:solidFill>
            <a:srgbClr val="F26B38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0" y="4206240"/>
            <a:ext cx="54864" cy="54864"/>
          </a:xfrm>
          <a:prstGeom prst="ellipse">
            <a:avLst/>
          </a:prstGeom>
          <a:solidFill>
            <a:srgbClr val="F26B38">
              <a:alpha val="30000"/>
            </a:srgbClr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069080"/>
            <a:ext cx="384048" cy="38404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57200" y="502920"/>
            <a:ext cx="1463040" cy="292608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2026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KilometerPlay</a:t>
            </a:r>
            <a:endParaRPr lang="en-US" sz="7000" dirty="0"/>
          </a:p>
        </p:txBody>
      </p:sp>
      <p:sp>
        <p:nvSpPr>
          <p:cNvPr id="30" name="Shape 27"/>
          <p:cNvSpPr/>
          <p:nvPr/>
        </p:nvSpPr>
        <p:spPr>
          <a:xfrm>
            <a:off x="502920" y="2240280"/>
            <a:ext cx="548640" cy="54864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2468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gamification &amp; personalization engine that turns every Indian airline's loyalty program into a revenue machine.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5720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237M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45720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air passengers FY26 (Apr–Oct)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24612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$60M+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324612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United saw in MilePlay's first year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03504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10M+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603504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BluChip members in &lt;18 months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the world's third-largest aviation market 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its loyalty programs are still figuring out the playbook.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57400"/>
          <a:ext cx="49377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2057400"/>
            <a:ext cx="3063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23560" y="2057400"/>
            <a:ext cx="54864" cy="77724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402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237M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355080" y="24780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in FY26 (Apr–Oct '25), domestic + international.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623560" y="2971800"/>
            <a:ext cx="3063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23560" y="2971800"/>
            <a:ext cx="54864" cy="77724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154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+11%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355080" y="33924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domestic capacity growth in April 2026 (OAG).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623560" y="3886200"/>
            <a:ext cx="3063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623560" y="3886200"/>
            <a:ext cx="54864" cy="77724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0690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355080" y="4306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airports targeted by 2030 — up from 74 in 2014.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Mordor Intelligence, IBEF, IATA, OAG · 2025–26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loyalty programs are broadcast, not personal.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reward who you are — not what behaviour the airline needs next quarter.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06040" cy="2423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One-size-fits-all promos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'earn 2x miles this month' campaigns blast every member regardless of route, recency, or fare class — wasting margin on customers who'd already fly.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2011680"/>
            <a:ext cx="2606040" cy="2423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194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behavioural nudges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mechanism to push a Delhi–Mumbai daily flyer to try IndiGo Stretch, Air India long-haul, or a new ancillary like Fast Forward.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2011680"/>
            <a:ext cx="2606040" cy="2423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945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gap with Gen-Z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26364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BluChip and Maharaja Club track spend but don't 'play.' Today's flyer expects streaks, missions, and progress bars — not a passive points balance.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airlines pay for loyalty they would have earned anyway, and miss the customers most worth winning.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PROOF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United did with MilePlay.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" cy="219456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6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using gamification to get customers to really try things they haven't tried before — whether that's a new product or a new location — and then rewarding them with currency."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Linda Jojo, United Airlines (then EVP, Technology &amp; CDO)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PaxEx.Aero coverage, World Aviation Festival London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74920" y="1508760"/>
            <a:ext cx="1783080" cy="105156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$60M+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212080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revenue impact in Year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49440" y="1508760"/>
            <a:ext cx="1783080" cy="105156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86600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 members targeted with unique offers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2697480"/>
            <a:ext cx="1783080" cy="105156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12080" y="3291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goal per member, not blanket promos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2697480"/>
            <a:ext cx="1783080" cy="105156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↑↑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86600" y="3291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to fly, hold the card, buy higher fares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picks a behaviour → ML targets the right members → each gets a personal mission ('Book 3 trips of $225+ in 60 days') → bonus miles paid out on completion.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KilometerPlay.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plug-in gamification engine for Indian carriers — designed for ₹, kilometers, and the Indian flyer.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73152" cy="59436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Mumbai → Goa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21031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+750 KM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88920"/>
            <a:ext cx="73152" cy="59436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Stretch on a metro route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27889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+1,500 KM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73152" cy="594360"/>
          </a:xfrm>
          <a:prstGeom prst="rect">
            <a:avLst/>
          </a:prstGeom>
          <a:solidFill>
            <a:srgbClr val="5BB89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Fast Forward 2x in 30d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34747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+400 KM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FEED · personalised per member</a:t>
            </a:r>
            <a:endParaRPr lang="en-US" sz="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14884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20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targeting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2359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segments your base by route, recency, fare, ancillary, and elite status.</a:t>
            </a:r>
            <a:endParaRPr lang="en-US" sz="10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715768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2064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catalogue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12064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challenges — try a new route, upgrade, ancillary attach, partner spend.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82696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2064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fulfilment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12064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bonus KMs straight into your existing FFP — no new currency for the flyer.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849624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20640" y="3803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Closed-loop analytics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12064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incremental revenue, not just engagement — every campaign has a P&amp;L.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to flight, in four steps.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365760" cy="365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into PNR, FFP, web/app clickstream, ancillary spend, and partner data via API.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2560320" y="2423160"/>
            <a:ext cx="365760" cy="365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clusters every member by behaviour. Lapsed Bengaluru flyers ≠ Mumbai daily commuters.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3484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365760" cy="365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mission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971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gets a goal calibrated to airline strategy: revenue, ancillary, or churn-save.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20" name="Shape 18"/>
          <p:cNvSpPr/>
          <p:nvPr/>
        </p:nvSpPr>
        <p:spPr>
          <a:xfrm>
            <a:off x="6766560" y="2423160"/>
            <a:ext cx="365760" cy="365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&amp; learn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2971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KMs auto-credited on completion; uplift vs. control measured per cohort.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F6EFE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 Each completed mission feeds the model — KilometerPlay gets sharper with every flight booked.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WHO WE SELL 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carriers. One ICP.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Indian airline has a loyalty program — and a behaviour they're trying to nudge. KilometerPlay is the layer that does the nudging.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46304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0240" y="1965960"/>
            <a:ext cx="155448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2029968" y="19659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12801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19659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393192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96596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KILOMETERPLAY USE-CASE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331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BluChip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39312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leisure → corporate; push Stretch trial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F6EFE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788920"/>
            <a:ext cx="54864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84832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Maharaja Club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39312" y="2788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Neu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Star Alliance long-haul share, premium attach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46120"/>
            <a:ext cx="54864" cy="457200"/>
          </a:xfrm>
          <a:prstGeom prst="rect">
            <a:avLst/>
          </a:prstGeom>
          <a:solidFill>
            <a:srgbClr val="5BB89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 Express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84832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Maharaja Club Lite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9312" y="3246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Neu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Tier-2/3 first-time flyers, GCC corridor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6EFE5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703320"/>
            <a:ext cx="54864" cy="45720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3703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Akasa Air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4832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39312" y="3703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zero — habit-forming program for new entrant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160520"/>
            <a:ext cx="54864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84832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SpiceClub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39312" y="4160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9472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play; reactivate dormant base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MISSION CATALOGUE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Pre-built missions, calibrated for India.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1280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70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" y="2039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a new metro route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404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DEL–BLR for the first time in 60 days · +1,200 KM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691640"/>
            <a:ext cx="2606040" cy="1280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4708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931920" y="2039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Upgrade cabin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404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IndiGo Stretch or AI Business 1x · +2,500 KM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606040" cy="1280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4708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720840" y="2039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 6E Add-ons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2404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Seat Select + Fast Forward in 2 trips · +400 KM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06040" cy="1280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6440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 the corridor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4 trips in 90 days, ₹4,000+ each · +5,000 KM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606040" cy="1280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6440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931920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on co-brand card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on Kotak IndiGo card in 30 days · +1,000 KM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3108960"/>
            <a:ext cx="2606040" cy="12801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6440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720840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Reactivate lapsed flyer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1792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within 21 days of mission email · +1,500 KM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missions are template — every airline tunes thresholds, rewards, and segment rules in the KilometerPlay console.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plug into the airline stack.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50292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for Amadeus, Sabre, Navitaire, in-house PSS · PNR, FFP, ancillary, web/app events.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066544"/>
            <a:ext cx="822960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066544"/>
            <a:ext cx="73152" cy="50292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579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0665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Decisioning Layer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0665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ML segmentation · propensity models for upgrade, churn, and ancillary attach.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670048"/>
            <a:ext cx="822960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2670048"/>
            <a:ext cx="73152" cy="50292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614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670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Engine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37560" y="26700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definition, eligibility logic, fraud checks, A/B framework, control cohorts.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273552"/>
            <a:ext cx="822960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" y="3273552"/>
            <a:ext cx="73152" cy="50292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649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2735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Layer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337560" y="32735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for the airline's app + email/WhatsApp/SMS · zero new app for the customer.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877056"/>
            <a:ext cx="822960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" y="3877056"/>
            <a:ext cx="73152" cy="502920"/>
          </a:xfrm>
          <a:prstGeom prst="rect">
            <a:avLst/>
          </a:prstGeom>
          <a:solidFill>
            <a:srgbClr val="F26B3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6849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38770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37560" y="38770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ready · data residency in India · audit logs · explicit-consent flows.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pilot setup · 90-day path to first measurable revenue lift.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compete with BluChip. We make it 30% smarter.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 is the engine inside the program — not a rival currency.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69080" cy="502920"/>
          </a:xfrm>
          <a:prstGeom prst="rect">
            <a:avLst/>
          </a:prstGeom>
          <a:solidFill>
            <a:srgbClr val="C9D0D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loyalty programs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40690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KILOMETERPLAY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currency, smarter dispatch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3288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email blasts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2468880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3288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mission per member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834640"/>
            <a:ext cx="4069080" cy="3657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9864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earn rate (8–16 KMs/₹100)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17720" y="2834640"/>
            <a:ext cx="4069080" cy="3657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89864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292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bonus KMs tied to a behavioural goal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3200400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440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perks reward who you already are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617720" y="3200400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26440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920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reward what the airline needs next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7200" y="3566160"/>
            <a:ext cx="4069080" cy="3657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30168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6868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= transactional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617720" y="3566160"/>
            <a:ext cx="4069080" cy="3657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630168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2920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= streaks, progress, completion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57200" y="3931920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995928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68680" y="3931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campaign setup, weeks to launch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4617720" y="3931920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995928"/>
            <a:ext cx="228600" cy="22860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29200" y="3931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console, missions live in hours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457200" y="4297680"/>
            <a:ext cx="4069080" cy="3657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4361688"/>
            <a:ext cx="228600" cy="22860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868680" y="4297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incremental revenue</a:t>
            </a:r>
            <a:endParaRPr lang="en-US" sz="1100" dirty="0"/>
          </a:p>
        </p:txBody>
      </p:sp>
      <p:sp>
        <p:nvSpPr>
          <p:cNvPr id="44" name="Shape 31"/>
          <p:cNvSpPr/>
          <p:nvPr/>
        </p:nvSpPr>
        <p:spPr>
          <a:xfrm>
            <a:off x="4617720" y="4297680"/>
            <a:ext cx="4069080" cy="365760"/>
          </a:xfrm>
          <a:prstGeom prst="rect">
            <a:avLst/>
          </a:prstGeom>
          <a:solidFill>
            <a:srgbClr val="F6EFE5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4361688"/>
            <a:ext cx="228600" cy="22860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029200" y="4297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cohort has a control + P&amp;L</a:t>
            </a:r>
            <a:endParaRPr lang="en-US" sz="1100" dirty="0"/>
          </a:p>
        </p:txBody>
      </p:sp>
      <p:sp>
        <p:nvSpPr>
          <p:cNvPr id="47" name="Text 3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get paid when the airline gets paid.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3017520"/>
          </a:xfrm>
          <a:prstGeom prst="rect">
            <a:avLst/>
          </a:prstGeom>
          <a:solidFill>
            <a:srgbClr val="F6EFE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2606040" cy="91440"/>
          </a:xfrm>
          <a:prstGeom prst="rect">
            <a:avLst/>
          </a:prstGeom>
          <a:solidFill>
            <a:srgbClr val="C9D0D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₹2.5 Cr+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carrier / 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337560"/>
            <a:ext cx="2194560" cy="18288"/>
          </a:xfrm>
          <a:prstGeom prst="rect">
            <a:avLst/>
          </a:prstGeom>
          <a:solidFill>
            <a:srgbClr val="C9D0D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engine + console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connectors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segmentation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2606040" cy="30175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691640"/>
            <a:ext cx="2606040" cy="9144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incremental revenue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337560"/>
            <a:ext cx="2194560" cy="18288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Platform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data science pod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mission templates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Control-cohort revenue audit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06040" cy="3017520"/>
          </a:xfrm>
          <a:prstGeom prst="rect">
            <a:avLst/>
          </a:prstGeom>
          <a:solidFill>
            <a:srgbClr val="F6EF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1691640"/>
            <a:ext cx="2606040" cy="914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TATA-STYLE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6364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6364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orgs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3337560"/>
            <a:ext cx="2194560" cy="18288"/>
          </a:xfrm>
          <a:prstGeom prst="rect">
            <a:avLst/>
          </a:prstGeom>
          <a:solidFill>
            <a:srgbClr val="C9D0DA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Cross-brand mission orchestration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Neu / super-app integrations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India-region deploy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Co-built mission products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tier aligns us with the airline's CFO — we only win when revenue does.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with one. Expand to the group. Own the category.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1005840" cy="59436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46120" y="16916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lighthouse pilot — single airline, 2–3 mission types, 100K-member cohort. Goal: prove ≥3% incremental revenue uplift in 90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04872"/>
            <a:ext cx="1005840" cy="59436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0487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Q3–Q4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4048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2404872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full member base + add ancillary, partner, and win-back missions. Hand the console to the airline's CRM team.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18104"/>
            <a:ext cx="1005840" cy="594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18104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11810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46120" y="3118104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second carrier. Launch group-level edition for Tata's Air India + AI Express + Vistara legacy base, plus Tata Neu integration.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831336"/>
            <a:ext cx="1005840" cy="594360"/>
          </a:xfrm>
          <a:prstGeom prst="rect">
            <a:avLst/>
          </a:prstGeom>
          <a:solidFill>
            <a:srgbClr val="5BB8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3133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83133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46120" y="3831336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loyalty engine for South Asian aviation. Adjacent: hotels, OTAs (MMT, Cleartrip), rail (IRCTC iMudra).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win: every major carrier is rebuilding its loyalty program right now — the engine layer is a missing tooling category.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converging in 2026.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2606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11680"/>
            <a:ext cx="685800" cy="685800"/>
          </a:xfrm>
          <a:prstGeom prst="ellipse">
            <a:avLst/>
          </a:prstGeom>
          <a:solidFill>
            <a:srgbClr val="F26B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program era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BluChip launched in 2024 (10M members), Maharaja Club rebuilt on Tata Neu, Akasa is greenfield. Programs are being re-platformed — best window to embed.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783080"/>
            <a:ext cx="2606040" cy="2606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011680"/>
            <a:ext cx="685800" cy="685800"/>
          </a:xfrm>
          <a:prstGeom prst="ellipse">
            <a:avLst/>
          </a:prstGeom>
          <a:solidFill>
            <a:srgbClr val="F26B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1762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47472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First-time flyer surge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7472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UDAN scheme + 230 airports by 2030 brings tens of millions of first-time flyers into the funnel — they need to be habituated, not just enrolled.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783080"/>
            <a:ext cx="2606040" cy="2606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Shape 13"/>
          <p:cNvSpPr/>
          <p:nvPr/>
        </p:nvSpPr>
        <p:spPr>
          <a:xfrm>
            <a:off x="6263640" y="2011680"/>
            <a:ext cx="685800" cy="685800"/>
          </a:xfrm>
          <a:prstGeom prst="ellipse">
            <a:avLst/>
          </a:prstGeom>
          <a:solidFill>
            <a:srgbClr val="F26B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17627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62636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is finally ready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26364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airlines have moved off legacy PSS, adopted CDPs (Adobe, Salesforce CDP), and DPDP-compliant data residency is sorted. The plumbing exists.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6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"It's not the concept of personalization that's new. It's that the technology stack finally allows it at scale."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₹40 Cr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to ship the platform, sign the lighthouse pilot, and reach first revenue.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&amp; data science (60%)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delivery + GTM (25%)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infra (15%)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548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868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milestones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023360" y="1600200"/>
            <a:ext cx="466344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600200"/>
            <a:ext cx="54864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v1 + first connector live (IndiGo or Air India PSS)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0" y="2240280"/>
            <a:ext cx="466344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0" y="2240280"/>
            <a:ext cx="54864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pilot launched · 100K-member cohort instrumented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0" y="2880360"/>
            <a:ext cx="466344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4023360" y="2880360"/>
            <a:ext cx="54864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880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proves ≥3% incremental revenue lift on a control-cohort basis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3520440"/>
            <a:ext cx="4663440" cy="50292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0" y="3520440"/>
            <a:ext cx="54864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contract signed; second carrier in commercial conversation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23360" y="4343400"/>
            <a:ext cx="4663440" cy="50292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it.    →    hello@kilometerplay.in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23360" y="49377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400" kern="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KILOMETERPLAY · 14 / 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KilometerPlay — Gamification Engine for Indian Aviation</dc:title>
  <dc:subject>PptxGenJS Presentation</dc:subject>
  <dc:creator>KilometerPlay</dc:creator>
  <cp:lastModifiedBy>KilometerPlay</cp:lastModifiedBy>
  <cp:revision>1</cp:revision>
  <dcterms:created xsi:type="dcterms:W3CDTF">2026-05-02T15:26:58Z</dcterms:created>
  <dcterms:modified xsi:type="dcterms:W3CDTF">2026-05-02T15:26:58Z</dcterms:modified>
</cp:coreProperties>
</file>